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KcLvTrwT0eapLAbEpB7mM24/v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17089E-7CD9-42F9-9117-2E8CB8450260}">
  <a:tblStyle styleId="{6117089E-7CD9-42F9-9117-2E8CB84502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a7d11e6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8a7d11e6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a7d11e6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8a7d11e6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a7d11e69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8a7d11e69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8a7d11e69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8a7d11e69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a7d11e69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a7d11e69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a7d11e69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8a7d11e69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a7d11e69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8a7d11e69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a7d11e69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8a7d11e69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a7d11e69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a7d11e69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b003096a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8b003096a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b003096a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b00309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b00309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8b00309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b003096a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b003096a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8b003096a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b003096a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b003096a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8b003096a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a7d11e6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8a7d11e6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a7d11e6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b003096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b003096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8b003096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a7d11e69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8a7d11e69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8a7d11e69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a7d11e69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8a7d11e69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8a7d11e69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a7d11e69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8a7d11e69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8a7d11e69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a7d11e69_3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8a7d11e69_3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8a7d11e69_3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843637"/>
            <a:ext cx="1098126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758037"/>
            <a:ext cx="10972800" cy="471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46906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1368" y="646906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2" y="646906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35" y="152401"/>
            <a:ext cx="3258487" cy="49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609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6197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843637"/>
            <a:ext cx="10981267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4267200" y="1196431"/>
            <a:ext cx="73152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609600" y="1768044"/>
            <a:ext cx="3431563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09600" y="1600201"/>
            <a:ext cx="10972800" cy="485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4700349" y="3428999"/>
            <a:ext cx="7302600" cy="26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TMEIC DI-Water Cooling Skid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455"/>
              <a:t>Ethan Henderson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Robert Parker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Noah Ovikian</a:t>
            </a:r>
            <a:br>
              <a:rPr lang="en-US" sz="2455"/>
            </a:br>
            <a:r>
              <a:rPr lang="en-US" sz="2455"/>
              <a:t>Sponsor: TMEIC</a:t>
            </a:r>
            <a:br>
              <a:rPr lang="en-US" sz="2455"/>
            </a:br>
            <a:r>
              <a:rPr lang="en-US" sz="2455"/>
              <a:t>TA: Jerry Xu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1447" y="1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875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 rot="-2700000">
            <a:off x="-2577276" y="556021"/>
            <a:ext cx="8845057" cy="3068702"/>
          </a:xfrm>
          <a:prstGeom prst="trapezoid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62550" y="914400"/>
            <a:ext cx="114669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Problem statement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TMEIC’s high-power VFDs rely on deionized-water cooling to protect inverter IGBTs from damaging heat. Using a full-scale cooling system for customer training is costly, cumbersome, and impractical, yet trainees still need realistic operating and troubleshooting scenarios.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a7d11e69_0_7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73" name="Google Shape;73;g3f8a7d11e69_0_7"/>
          <p:cNvSpPr txBox="1"/>
          <p:nvPr>
            <p:ph idx="1" type="body"/>
          </p:nvPr>
        </p:nvSpPr>
        <p:spPr>
          <a:xfrm>
            <a:off x="362550" y="914400"/>
            <a:ext cx="114669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Problem statement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TMEIC’s high-power VFDs rely on deionized-water cooling to protect inverter IGBTs from damaging heat. Using a full-scale cooling system for customer training is costly, cumbersome, and impractical, yet trainees still need realistic operating and troubleshooting scenarios.</a:t>
            </a:r>
            <a:endParaRPr sz="2400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Our Solution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We are designing and building a compact, temperature-controlled DI water cooling skid for TMEIC’s training facility. It will reproduce the behavior of the full-scale system, enabling accurate hands-on testing, diagnostics, and troubleshooting at a fraction of the scale, cost, and complexity.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a7d11e69_0_12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id="79" name="Google Shape;79;g3f8a7d11e6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998" y="1533175"/>
            <a:ext cx="8594024" cy="48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f8a7d11e69_0_12"/>
          <p:cNvSpPr txBox="1"/>
          <p:nvPr/>
        </p:nvSpPr>
        <p:spPr>
          <a:xfrm>
            <a:off x="9692400" y="6467700"/>
            <a:ext cx="24996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Credit: Infineon AN2019-05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a7d11e69_0_20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id="86" name="Google Shape;86;g3f8a7d11e69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463" y="1035375"/>
            <a:ext cx="9027073" cy="56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6654875" y="0"/>
            <a:ext cx="450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System Overview </a:t>
            </a:r>
            <a:endParaRPr/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400" y="1065650"/>
            <a:ext cx="10163199" cy="4726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93" name="Google Shape;93;p3"/>
          <p:cNvSpPr txBox="1"/>
          <p:nvPr/>
        </p:nvSpPr>
        <p:spPr>
          <a:xfrm>
            <a:off x="1258100" y="1250775"/>
            <a:ext cx="39105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BBB59"/>
                </a:solidFill>
              </a:rPr>
              <a:t>Ethan Henderson</a:t>
            </a:r>
            <a:endParaRPr sz="3200">
              <a:solidFill>
                <a:srgbClr val="9BBB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BACC6"/>
                </a:solidFill>
              </a:rPr>
              <a:t>Robert Parker</a:t>
            </a:r>
            <a:endParaRPr sz="3200">
              <a:solidFill>
                <a:srgbClr val="4BAC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504D"/>
                </a:solidFill>
              </a:rPr>
              <a:t>Noah Ovikian</a:t>
            </a:r>
            <a:endParaRPr sz="3200">
              <a:solidFill>
                <a:srgbClr val="C0504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609600" y="843637"/>
            <a:ext cx="1098126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Major Project Changes for 404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609600" y="1758037"/>
            <a:ext cx="10972800" cy="471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MEEN Integration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type="title"/>
          </p:nvPr>
        </p:nvSpPr>
        <p:spPr>
          <a:xfrm>
            <a:off x="6517400" y="0"/>
            <a:ext cx="473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cxnSp>
        <p:nvCxnSpPr>
          <p:cNvPr id="105" name="Google Shape;105;p5"/>
          <p:cNvCxnSpPr/>
          <p:nvPr/>
        </p:nvCxnSpPr>
        <p:spPr>
          <a:xfrm>
            <a:off x="549450" y="3413775"/>
            <a:ext cx="11010000" cy="0"/>
          </a:xfrm>
          <a:prstGeom prst="straightConnector1">
            <a:avLst/>
          </a:prstGeom>
          <a:noFill/>
          <a:ln cap="flat" cmpd="sng" w="7620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5"/>
          <p:cNvCxnSpPr/>
          <p:nvPr/>
        </p:nvCxnSpPr>
        <p:spPr>
          <a:xfrm>
            <a:off x="54945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26952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5"/>
          <p:cNvCxnSpPr/>
          <p:nvPr/>
        </p:nvCxnSpPr>
        <p:spPr>
          <a:xfrm>
            <a:off x="606125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5"/>
          <p:cNvCxnSpPr/>
          <p:nvPr/>
        </p:nvCxnSpPr>
        <p:spPr>
          <a:xfrm>
            <a:off x="90446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1124960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5"/>
          <p:cNvCxnSpPr>
            <a:stCxn id="112" idx="2"/>
          </p:cNvCxnSpPr>
          <p:nvPr/>
        </p:nvCxnSpPr>
        <p:spPr>
          <a:xfrm>
            <a:off x="1127725" y="32019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5"/>
          <p:cNvSpPr/>
          <p:nvPr/>
        </p:nvSpPr>
        <p:spPr>
          <a:xfrm>
            <a:off x="66775" y="1786875"/>
            <a:ext cx="2121900" cy="1415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187975" y="17868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</a:rPr>
              <a:t>AUG 29</a:t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Design Baseline Complete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Controls architecture &amp; materials baseline set</a:t>
            </a:r>
            <a:endParaRPr sz="1000">
              <a:solidFill>
                <a:srgbClr val="888888"/>
              </a:solidFill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4797038" y="3201967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5"/>
          <p:cNvSpPr/>
          <p:nvPr/>
        </p:nvSpPr>
        <p:spPr>
          <a:xfrm>
            <a:off x="3736088" y="1667175"/>
            <a:ext cx="2121900" cy="153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3857288" y="16671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C232"/>
                </a:solidFill>
              </a:rPr>
              <a:t>AUG 31 – SEP 12</a:t>
            </a:r>
            <a:endParaRPr b="1" sz="10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Procure &amp; Install Remainder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- </a:t>
            </a:r>
            <a:r>
              <a:rPr lang="en-US" sz="1000">
                <a:solidFill>
                  <a:srgbClr val="888888"/>
                </a:solidFill>
              </a:rPr>
              <a:t>Instrumentation &amp; Skid Power</a:t>
            </a:r>
            <a:endParaRPr sz="1000"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- Target less than 2 weeks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1030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AUG 29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2356075" y="2995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7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72210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SEP 12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634275" y="3553275"/>
            <a:ext cx="2121900" cy="14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1755475" y="35532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No Later Than SEP 7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Testing Phases Begin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MEEN Team begins component-level testing</a:t>
            </a:r>
            <a:endParaRPr sz="1000">
              <a:solidFill>
                <a:srgbClr val="888888"/>
              </a:solidFill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7722513" y="3455550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5"/>
          <p:cNvSpPr/>
          <p:nvPr/>
        </p:nvSpPr>
        <p:spPr>
          <a:xfrm>
            <a:off x="6661563" y="3692775"/>
            <a:ext cx="2121900" cy="14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6782763" y="36927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SEP 7 – NOV 15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Electrical</a:t>
            </a:r>
            <a:r>
              <a:rPr b="1" lang="en-US" sz="1500">
                <a:solidFill>
                  <a:schemeClr val="dk1"/>
                </a:solidFill>
              </a:rPr>
              <a:t> Integration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Integrate each phase build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8705475" y="29229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NOV</a:t>
            </a:r>
            <a:r>
              <a:rPr b="1" lang="en-US" sz="1000">
                <a:solidFill>
                  <a:srgbClr val="434343"/>
                </a:solidFill>
              </a:rPr>
              <a:t> 15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188650" y="1859175"/>
            <a:ext cx="1859100" cy="14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10244700" y="1859175"/>
            <a:ext cx="18030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DEC 1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Project Completion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88888"/>
                </a:solidFill>
              </a:rPr>
              <a:t>Fully integrated skid ready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091045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DEC 1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822938" y="6239000"/>
            <a:ext cx="211800" cy="2118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3034738" y="6152900"/>
            <a:ext cx="11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Complete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306013" y="6239000"/>
            <a:ext cx="211800" cy="2118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4517813" y="6152900"/>
            <a:ext cx="131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In Progress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893850" y="6239000"/>
            <a:ext cx="211800" cy="2118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6105663" y="6152900"/>
            <a:ext cx="18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Behind Schedule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908650" y="6239000"/>
            <a:ext cx="211800" cy="211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8120464" y="6152900"/>
            <a:ext cx="124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Not Started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0146900" y="6465600"/>
            <a:ext cx="204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*Contains AI generated content*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a7d11e69_0_122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43" name="Google Shape;143;g3f8a7d11e69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163" y="914400"/>
            <a:ext cx="9309678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a7d11e69_0_66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49" name="Google Shape;149;g3f8a7d11e69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163" y="914400"/>
            <a:ext cx="9309678" cy="594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g3f8a7d11e69_0_66"/>
          <p:cNvCxnSpPr>
            <a:stCxn id="149" idx="1"/>
          </p:cNvCxnSpPr>
          <p:nvPr/>
        </p:nvCxnSpPr>
        <p:spPr>
          <a:xfrm>
            <a:off x="1441163" y="3886200"/>
            <a:ext cx="3776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g3f8a7d11e69_0_66"/>
          <p:cNvCxnSpPr/>
          <p:nvPr/>
        </p:nvCxnSpPr>
        <p:spPr>
          <a:xfrm rot="10800000">
            <a:off x="5217875" y="3412500"/>
            <a:ext cx="0" cy="48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3f8a7d11e69_0_66"/>
          <p:cNvCxnSpPr/>
          <p:nvPr/>
        </p:nvCxnSpPr>
        <p:spPr>
          <a:xfrm>
            <a:off x="5228200" y="3412475"/>
            <a:ext cx="5587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g3f8a7d11e69_0_66"/>
          <p:cNvCxnSpPr/>
          <p:nvPr/>
        </p:nvCxnSpPr>
        <p:spPr>
          <a:xfrm rot="10800000">
            <a:off x="10795150" y="840700"/>
            <a:ext cx="0" cy="258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g3f8a7d11e69_0_66"/>
          <p:cNvCxnSpPr/>
          <p:nvPr/>
        </p:nvCxnSpPr>
        <p:spPr>
          <a:xfrm rot="10800000">
            <a:off x="6446950" y="851050"/>
            <a:ext cx="4348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g3f8a7d11e69_0_66"/>
          <p:cNvCxnSpPr/>
          <p:nvPr/>
        </p:nvCxnSpPr>
        <p:spPr>
          <a:xfrm>
            <a:off x="6467600" y="861375"/>
            <a:ext cx="0" cy="102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g3f8a7d11e69_0_66"/>
          <p:cNvCxnSpPr/>
          <p:nvPr/>
        </p:nvCxnSpPr>
        <p:spPr>
          <a:xfrm rot="10800000">
            <a:off x="1448125" y="1873550"/>
            <a:ext cx="50298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g3f8a7d11e69_0_66"/>
          <p:cNvCxnSpPr>
            <a:stCxn id="149" idx="1"/>
          </p:cNvCxnSpPr>
          <p:nvPr/>
        </p:nvCxnSpPr>
        <p:spPr>
          <a:xfrm rot="10800000">
            <a:off x="1441163" y="1894200"/>
            <a:ext cx="0" cy="199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g3f8a7d11e69_0_66"/>
          <p:cNvSpPr/>
          <p:nvPr/>
        </p:nvSpPr>
        <p:spPr>
          <a:xfrm>
            <a:off x="8522925" y="4042500"/>
            <a:ext cx="599100" cy="13737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8a7d11e69_0_66"/>
          <p:cNvSpPr/>
          <p:nvPr/>
        </p:nvSpPr>
        <p:spPr>
          <a:xfrm>
            <a:off x="7838650" y="6012750"/>
            <a:ext cx="366600" cy="485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8a7d11e69_0_66"/>
          <p:cNvSpPr/>
          <p:nvPr/>
        </p:nvSpPr>
        <p:spPr>
          <a:xfrm>
            <a:off x="6338525" y="4801800"/>
            <a:ext cx="366600" cy="914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8a7d11e69_0_66"/>
          <p:cNvSpPr txBox="1"/>
          <p:nvPr/>
        </p:nvSpPr>
        <p:spPr>
          <a:xfrm>
            <a:off x="456500" y="4125125"/>
            <a:ext cx="4162500" cy="17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00FF"/>
                </a:solidFill>
              </a:rPr>
              <a:t>Existing, Tested, and Validated</a:t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Everything else is awaiting sponsor approval for procurement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a7d11e69_0_139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67" name="Google Shape;167;g3f8a7d11e69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249284" y="22653"/>
            <a:ext cx="5693425" cy="7591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a7d11e69_0_84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73" name="Google Shape;173;g3f8a7d11e69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850" y="1547813"/>
            <a:ext cx="59436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8a7d11e69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1275" y="1028025"/>
            <a:ext cx="4647600" cy="5477507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g3f8a7d11e69_0_84"/>
          <p:cNvSpPr/>
          <p:nvPr/>
        </p:nvSpPr>
        <p:spPr>
          <a:xfrm>
            <a:off x="2749400" y="2565550"/>
            <a:ext cx="640500" cy="12804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a7d11e69_0_93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81" name="Google Shape;181;g3f8a7d11e69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850" y="1547813"/>
            <a:ext cx="59436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a7d11e69_0_93"/>
          <p:cNvSpPr/>
          <p:nvPr/>
        </p:nvSpPr>
        <p:spPr>
          <a:xfrm>
            <a:off x="3472375" y="2565550"/>
            <a:ext cx="640500" cy="1280400"/>
          </a:xfrm>
          <a:prstGeom prst="ellipse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g3f8a7d11e69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277" y="1592950"/>
            <a:ext cx="5267576" cy="3672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a7d11e69_0_101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 System</a:t>
            </a:r>
            <a:endParaRPr/>
          </a:p>
        </p:txBody>
      </p:sp>
      <p:pic>
        <p:nvPicPr>
          <p:cNvPr id="189" name="Google Shape;189;g3f8a7d11e69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850" y="1547813"/>
            <a:ext cx="59436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8a7d11e69_0_101"/>
          <p:cNvSpPr/>
          <p:nvPr/>
        </p:nvSpPr>
        <p:spPr>
          <a:xfrm>
            <a:off x="4174700" y="2565550"/>
            <a:ext cx="640500" cy="1280400"/>
          </a:xfrm>
          <a:prstGeom prst="ellipse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g3f8a7d11e69_0_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468900"/>
            <a:ext cx="5579599" cy="39202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b003096a_0_24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  <p:pic>
        <p:nvPicPr>
          <p:cNvPr id="198" name="Google Shape;198;g3f8b003096a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488" y="998925"/>
            <a:ext cx="7685035" cy="56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b003096a_0_0"/>
          <p:cNvSpPr txBox="1"/>
          <p:nvPr>
            <p:ph type="title"/>
          </p:nvPr>
        </p:nvSpPr>
        <p:spPr>
          <a:xfrm>
            <a:off x="609600" y="843637"/>
            <a:ext cx="10981200" cy="91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Selection</a:t>
            </a:r>
            <a:endParaRPr/>
          </a:p>
        </p:txBody>
      </p:sp>
      <p:sp>
        <p:nvSpPr>
          <p:cNvPr id="205" name="Google Shape;205;g3f8b003096a_0_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  <p:graphicFrame>
        <p:nvGraphicFramePr>
          <p:cNvPr id="206" name="Google Shape;206;g3f8b003096a_0_0"/>
          <p:cNvGraphicFramePr/>
          <p:nvPr/>
        </p:nvGraphicFramePr>
        <p:xfrm>
          <a:off x="952500" y="227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{6117089E-7CD9-42F9-9117-2E8CB8450260}</a:tableStyleId>
              </a:tblPr>
              <a:tblGrid>
                <a:gridCol w="3429000"/>
                <a:gridCol w="3429000"/>
                <a:gridCol w="3429000"/>
              </a:tblGrid>
              <a:tr h="38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Component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Part number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Procurement Status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PLC and I/O Modules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Wago 750-8202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Acquired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HMI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Pro-face STM-6400WA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Acquired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Float </a:t>
                      </a:r>
                      <a:r>
                        <a:rPr lang="en-US" sz="1700"/>
                        <a:t>Switch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PLS-092A-3PPH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Acquired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Resistance Temperature Detector</a:t>
                      </a:r>
                      <a:endParaRPr sz="17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RTD1-25N-050-H</a:t>
                      </a:r>
                      <a:endParaRPr sz="17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Acquired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Flow </a:t>
                      </a:r>
                      <a:r>
                        <a:rPr lang="en-US" sz="1700"/>
                        <a:t>Transmitter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RCM 3/4"-83-R-10-W2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To Be Provided By Sponsor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Pressure Switch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MPS25-1C-D30A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To Be Provided By Sponsor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Conductivity Meter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CM442R-AAM1A2F21+SA#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</a:rPr>
                        <a:t>To Be Provided By Sponsor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Power Meter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TBD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b003096a_0_8"/>
          <p:cNvSpPr txBox="1"/>
          <p:nvPr>
            <p:ph type="title"/>
          </p:nvPr>
        </p:nvSpPr>
        <p:spPr>
          <a:xfrm>
            <a:off x="609600" y="843637"/>
            <a:ext cx="10981200" cy="91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HMI Screen</a:t>
            </a:r>
            <a:endParaRPr/>
          </a:p>
        </p:txBody>
      </p:sp>
      <p:sp>
        <p:nvSpPr>
          <p:cNvPr id="213" name="Google Shape;213;g3f8b003096a_0_8"/>
          <p:cNvSpPr txBox="1"/>
          <p:nvPr>
            <p:ph idx="1" type="body"/>
          </p:nvPr>
        </p:nvSpPr>
        <p:spPr>
          <a:xfrm>
            <a:off x="609600" y="1758025"/>
            <a:ext cx="6979800" cy="471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HMI displays the system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Provides interface for configuration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</a:t>
            </a:r>
            <a:r>
              <a:rPr lang="en-US"/>
              <a:t>cces</a:t>
            </a:r>
            <a:r>
              <a:rPr lang="en-US"/>
              <a:t>ses Data Via MODBUS TCP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8b003096a_0_8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  <p:pic>
        <p:nvPicPr>
          <p:cNvPr id="215" name="Google Shape;215;g3f8b003096a_0_8"/>
          <p:cNvPicPr preferRelativeResize="0"/>
          <p:nvPr/>
        </p:nvPicPr>
        <p:blipFill rotWithShape="1">
          <a:blip r:embed="rId3">
            <a:alphaModFix/>
          </a:blip>
          <a:srcRect b="1235" l="0" r="1420" t="0"/>
          <a:stretch/>
        </p:blipFill>
        <p:spPr>
          <a:xfrm>
            <a:off x="7589450" y="1788493"/>
            <a:ext cx="3692249" cy="221938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f8b003096a_0_8"/>
          <p:cNvSpPr txBox="1"/>
          <p:nvPr/>
        </p:nvSpPr>
        <p:spPr>
          <a:xfrm>
            <a:off x="7589450" y="4038350"/>
            <a:ext cx="361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</a:rPr>
              <a:t>example HMI screen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8b003096a_0_15"/>
          <p:cNvSpPr txBox="1"/>
          <p:nvPr>
            <p:ph type="title"/>
          </p:nvPr>
        </p:nvSpPr>
        <p:spPr>
          <a:xfrm>
            <a:off x="609600" y="843637"/>
            <a:ext cx="10981200" cy="91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223" name="Google Shape;223;g3f8b003096a_0_15"/>
          <p:cNvSpPr txBox="1"/>
          <p:nvPr>
            <p:ph idx="1" type="body"/>
          </p:nvPr>
        </p:nvSpPr>
        <p:spPr>
          <a:xfrm>
            <a:off x="609600" y="1758037"/>
            <a:ext cx="10972800" cy="471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Instruments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Procure and Unit Test Remaining Parts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HMI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Integrate With Full Software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Add Alarm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MEEN Integration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Mount Instruments to Final Build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Test Instruments on Real Skid</a:t>
            </a:r>
            <a:endParaRPr/>
          </a:p>
        </p:txBody>
      </p:sp>
      <p:sp>
        <p:nvSpPr>
          <p:cNvPr id="224" name="Google Shape;224;g3f8b003096a_0_15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Hardware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a7d11e69_1_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Software</a:t>
            </a:r>
            <a:endParaRPr b="1" sz="3600">
              <a:solidFill>
                <a:srgbClr val="000000"/>
              </a:solidFill>
            </a:endParaRPr>
          </a:p>
        </p:txBody>
      </p:sp>
      <p:pic>
        <p:nvPicPr>
          <p:cNvPr id="231" name="Google Shape;231;g3f8a7d11e6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62" y="2266888"/>
            <a:ext cx="5617076" cy="3543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g3f8a7d11e69_1_0"/>
          <p:cNvSpPr/>
          <p:nvPr/>
        </p:nvSpPr>
        <p:spPr>
          <a:xfrm>
            <a:off x="2761500" y="2525475"/>
            <a:ext cx="660000" cy="645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8a7d11e69_1_0"/>
          <p:cNvSpPr/>
          <p:nvPr/>
        </p:nvSpPr>
        <p:spPr>
          <a:xfrm>
            <a:off x="3691925" y="3004650"/>
            <a:ext cx="576900" cy="6450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8a7d11e69_1_0"/>
          <p:cNvSpPr/>
          <p:nvPr/>
        </p:nvSpPr>
        <p:spPr>
          <a:xfrm>
            <a:off x="3562600" y="5066875"/>
            <a:ext cx="1215900" cy="6450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8a7d11e69_1_0"/>
          <p:cNvSpPr/>
          <p:nvPr/>
        </p:nvSpPr>
        <p:spPr>
          <a:xfrm>
            <a:off x="1850225" y="3649650"/>
            <a:ext cx="781800" cy="15825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8a7d11e69_1_0"/>
          <p:cNvSpPr txBox="1"/>
          <p:nvPr/>
        </p:nvSpPr>
        <p:spPr>
          <a:xfrm>
            <a:off x="6281125" y="2026925"/>
            <a:ext cx="5688300" cy="4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Temperature Control</a:t>
            </a:r>
            <a:endParaRPr b="1"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Observation of Inlet Coolant Temp.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PI</a:t>
            </a:r>
            <a:r>
              <a:rPr lang="en-US" sz="1900"/>
              <a:t> Control of Temp. via Flow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Excess Time @ Critical Temp  → Fault</a:t>
            </a:r>
            <a:endParaRPr sz="19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Coolant Conductivity Control</a:t>
            </a:r>
            <a:endParaRPr b="1"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Observation of Coolant Conductivity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High &amp; Critical Cond. Level Interlocks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Excess Conductivity → Fault.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Hydraulic </a:t>
            </a:r>
            <a:r>
              <a:rPr b="1" lang="en-US" sz="2200"/>
              <a:t>Controls </a:t>
            </a:r>
            <a:endParaRPr b="1"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Observation of System Hydraulics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Automatic Redundant Pump Turnover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Total Hydraulic Failure → Fault</a:t>
            </a:r>
            <a:endParaRPr sz="1900"/>
          </a:p>
        </p:txBody>
      </p:sp>
      <p:sp>
        <p:nvSpPr>
          <p:cNvPr id="237" name="Google Shape;237;g3f8a7d11e69_1_0"/>
          <p:cNvSpPr txBox="1"/>
          <p:nvPr/>
        </p:nvSpPr>
        <p:spPr>
          <a:xfrm>
            <a:off x="7153142" y="643925"/>
            <a:ext cx="427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Primary Control Features</a:t>
            </a:r>
            <a:endParaRPr i="1"/>
          </a:p>
        </p:txBody>
      </p:sp>
      <p:sp>
        <p:nvSpPr>
          <p:cNvPr id="238" name="Google Shape;238;g3f8a7d11e69_1_0"/>
          <p:cNvSpPr txBox="1"/>
          <p:nvPr/>
        </p:nvSpPr>
        <p:spPr>
          <a:xfrm>
            <a:off x="283000" y="5904900"/>
            <a:ext cx="568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</a:rPr>
              <a:t>Figure</a:t>
            </a:r>
            <a:r>
              <a:rPr i="1" lang="en-US" sz="1100">
                <a:solidFill>
                  <a:schemeClr val="dk1"/>
                </a:solidFill>
              </a:rPr>
              <a:t>: P&amp;ID of Cooling Skid. Primary Control Components Highlighted in Red, Green, Blue, representing conductivity, temperature, and hydraulics, </a:t>
            </a:r>
            <a:r>
              <a:rPr i="1" lang="en-US" sz="1100">
                <a:solidFill>
                  <a:schemeClr val="dk1"/>
                </a:solidFill>
              </a:rPr>
              <a:t>respectively</a:t>
            </a:r>
            <a:r>
              <a:rPr i="1" lang="en-US" sz="1100">
                <a:solidFill>
                  <a:schemeClr val="dk1"/>
                </a:solidFill>
              </a:rPr>
              <a:t> </a:t>
            </a:r>
            <a:endParaRPr i="1" sz="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b003096a_1_0"/>
          <p:cNvSpPr txBox="1"/>
          <p:nvPr/>
        </p:nvSpPr>
        <p:spPr>
          <a:xfrm>
            <a:off x="351750" y="1481075"/>
            <a:ext cx="117384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 sz="1800"/>
              <a:t>Signal Processing 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Affine Transformation, </a:t>
            </a:r>
            <a:r>
              <a:rPr lang="en-US" sz="1800"/>
              <a:t>Hysteresis/Debouncing</a:t>
            </a:r>
            <a:r>
              <a:rPr lang="en-US" sz="1800"/>
              <a:t>, Last Read Values Stored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Temperature C&amp;E (Cause &amp; Effect) Logic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Triplex Median-Value Redundancy, Duplex Mean-Value </a:t>
            </a:r>
            <a:r>
              <a:rPr lang="en-US" sz="1800"/>
              <a:t>Redundancy, </a:t>
            </a:r>
            <a:r>
              <a:rPr lang="en-US" sz="1800"/>
              <a:t> Fault Interlock @ +2 RTD Fails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Hydraulic C&amp;E Logic</a:t>
            </a:r>
            <a:endParaRPr b="1" sz="18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Triplex Hydraulic Redundancy (2 of 3 Voting Between Power, Pressure, &amp; Flow)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Vessel C&amp;E Logic &amp; Control 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Observability of coolant level in vessel at low and critical (fault) levels. Instrument Verification Sequence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Conductivity </a:t>
            </a:r>
            <a:r>
              <a:rPr b="1" lang="en-US" sz="1800"/>
              <a:t>Redundancy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Verification of digital conductivity interlocks via analog measurement of conductivity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Fan Control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Automatic Fan Actuation w/ ability for user to override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System-User Interlocks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User-Only </a:t>
            </a:r>
            <a:r>
              <a:rPr lang="en-US" sz="1800"/>
              <a:t>Release</a:t>
            </a:r>
            <a:r>
              <a:rPr lang="en-US" sz="1800"/>
              <a:t> of Fault &amp; Simplex Pump Conditions</a:t>
            </a:r>
            <a:endParaRPr sz="18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  <p:sp>
        <p:nvSpPr>
          <p:cNvPr id="245" name="Google Shape;245;g3f8b003096a_1_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Control Software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46" name="Google Shape;246;g3f8b003096a_1_0"/>
          <p:cNvSpPr txBox="1"/>
          <p:nvPr/>
        </p:nvSpPr>
        <p:spPr>
          <a:xfrm>
            <a:off x="7153142" y="643925"/>
            <a:ext cx="427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Supporting </a:t>
            </a:r>
            <a:r>
              <a:rPr i="1" lang="en-US" sz="2700">
                <a:solidFill>
                  <a:schemeClr val="dk1"/>
                </a:solidFill>
              </a:rPr>
              <a:t>Features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a7d11e69_1_20"/>
          <p:cNvSpPr txBox="1"/>
          <p:nvPr/>
        </p:nvSpPr>
        <p:spPr>
          <a:xfrm>
            <a:off x="351750" y="1481075"/>
            <a:ext cx="115908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 sz="1800"/>
              <a:t>Philosophy Redirection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Shifting focus to ensure ease-of-use and headache free </a:t>
            </a:r>
            <a:r>
              <a:rPr lang="en-US" sz="1800">
                <a:solidFill>
                  <a:schemeClr val="dk1"/>
                </a:solidFill>
              </a:rPr>
              <a:t>maintenance</a:t>
            </a:r>
            <a:r>
              <a:rPr lang="en-US" sz="1800">
                <a:solidFill>
                  <a:schemeClr val="dk1"/>
                </a:solidFill>
              </a:rPr>
              <a:t> for “field” engineers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Complete Elimination of Object-Oriented Coding (Controls First Approach)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 sz="1800"/>
              <a:t>Reduction of Abstraction</a:t>
            </a:r>
            <a:endParaRPr b="1"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Removed “God Blocks” within Ladder Logic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Replaced structures with arrays for easier data mapping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Consolidated </a:t>
            </a:r>
            <a:r>
              <a:rPr lang="en-US" sz="1800"/>
              <a:t>variables, </a:t>
            </a:r>
            <a:r>
              <a:rPr lang="en-US" sz="1800"/>
              <a:t>data, and fault flags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Refined Startup, Temperature Control and Pump Control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Removed </a:t>
            </a:r>
            <a:r>
              <a:rPr lang="en-US" sz="1800"/>
              <a:t>Unnecessary</a:t>
            </a:r>
            <a:r>
              <a:rPr lang="en-US" sz="1800"/>
              <a:t> delays in system startup procedure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Reduced Permissives in Pump Controls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Updated controller gain, Kp, and Ki values to reflect linear control valve operating point</a:t>
            </a:r>
            <a:endParaRPr sz="1800"/>
          </a:p>
        </p:txBody>
      </p:sp>
      <p:sp>
        <p:nvSpPr>
          <p:cNvPr id="253" name="Google Shape;253;g3f8a7d11e69_1_2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Control Software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54" name="Google Shape;254;g3f8a7d11e69_1_20"/>
          <p:cNvSpPr txBox="1"/>
          <p:nvPr/>
        </p:nvSpPr>
        <p:spPr>
          <a:xfrm>
            <a:off x="7153142" y="643925"/>
            <a:ext cx="427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Subsystem Adjustments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a7d11e69_1_26"/>
          <p:cNvSpPr txBox="1"/>
          <p:nvPr/>
        </p:nvSpPr>
        <p:spPr>
          <a:xfrm>
            <a:off x="351825" y="1481075"/>
            <a:ext cx="11590800" cy="4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 sz="1800"/>
              <a:t>Subsystem Touch Up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Commenting Code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Perform Final Functional Checks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 sz="1800"/>
              <a:t>Digital Twin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1800"/>
              <a:t>Reboot MATLAB fluid and thermodynamic simulation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Electrical System Interfacing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Interface with Instrumentation (RTDs, Actuator, etc) and Power (Fan/Pump Relays)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Validate Instrumentation/Power-Software Interaction through expected-actual value comparison 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Formalize functionality through control narrative, interlock diagrams, and C&amp;E diagrams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Mechanical/Process Interface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Piecewise Integration &amp; Testing of Mechanical Apparatus w/ Control Logic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Validate Integration by observing system behavior and contrasting to sponsor requirements &amp; expectations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1" name="Google Shape;261;g3f8a7d11e69_1_26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Control Software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62" name="Google Shape;262;g3f8a7d11e69_1_26"/>
          <p:cNvSpPr txBox="1"/>
          <p:nvPr/>
        </p:nvSpPr>
        <p:spPr>
          <a:xfrm>
            <a:off x="7153142" y="643925"/>
            <a:ext cx="427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Ongoing</a:t>
            </a:r>
            <a:r>
              <a:rPr i="1" lang="en-US" sz="2700">
                <a:solidFill>
                  <a:schemeClr val="dk1"/>
                </a:solidFill>
              </a:rPr>
              <a:t> &amp; Integration</a:t>
            </a:r>
            <a:endParaRPr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a7d11e69_3_0"/>
          <p:cNvSpPr/>
          <p:nvPr/>
        </p:nvSpPr>
        <p:spPr>
          <a:xfrm>
            <a:off x="434700" y="1188575"/>
            <a:ext cx="11322600" cy="47223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8a7d11e69_3_0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Control Software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70" name="Google Shape;270;g3f8a7d11e69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600" y="2127500"/>
            <a:ext cx="3790099" cy="32799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1" name="Google Shape;271;g3f8a7d11e69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6023" y="2127500"/>
            <a:ext cx="2275762" cy="327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2" name="Google Shape;272;g3f8a7d11e69_3_0"/>
          <p:cNvSpPr/>
          <p:nvPr/>
        </p:nvSpPr>
        <p:spPr>
          <a:xfrm>
            <a:off x="5714250" y="3130188"/>
            <a:ext cx="1200600" cy="55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8a7d11e69_3_0"/>
          <p:cNvSpPr txBox="1"/>
          <p:nvPr/>
        </p:nvSpPr>
        <p:spPr>
          <a:xfrm>
            <a:off x="1758600" y="1529375"/>
            <a:ext cx="24261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God Block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74" name="Google Shape;274;g3f8a7d11e69_3_0"/>
          <p:cNvSpPr txBox="1"/>
          <p:nvPr/>
        </p:nvSpPr>
        <p:spPr>
          <a:xfrm>
            <a:off x="7852825" y="1463875"/>
            <a:ext cx="32241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Not God </a:t>
            </a:r>
            <a:r>
              <a:rPr lang="en-US" sz="3200">
                <a:solidFill>
                  <a:schemeClr val="dk1"/>
                </a:solidFill>
              </a:rPr>
              <a:t>Block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75" name="Google Shape;275;g3f8a7d11e69_3_0"/>
          <p:cNvSpPr txBox="1"/>
          <p:nvPr/>
        </p:nvSpPr>
        <p:spPr>
          <a:xfrm>
            <a:off x="434700" y="5956500"/>
            <a:ext cx="997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</a:rPr>
              <a:t>Figure</a:t>
            </a:r>
            <a:r>
              <a:rPr i="1" lang="en-US" sz="1100">
                <a:solidFill>
                  <a:schemeClr val="dk1"/>
                </a:solidFill>
              </a:rPr>
              <a:t>: Comparison of data-bloated functional block (i.e. “God Glock”) to current function block configuration in master ladder logic program</a:t>
            </a:r>
            <a:endParaRPr i="1"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8a7d11e69_3_16"/>
          <p:cNvSpPr txBox="1"/>
          <p:nvPr/>
        </p:nvSpPr>
        <p:spPr>
          <a:xfrm>
            <a:off x="6415800" y="0"/>
            <a:ext cx="57762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Control Software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82" name="Google Shape;282;g3f8a7d11e69_3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00" y="983700"/>
            <a:ext cx="5394225" cy="30708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3" name="Google Shape;283;g3f8a7d11e69_3_16"/>
          <p:cNvPicPr preferRelativeResize="0"/>
          <p:nvPr/>
        </p:nvPicPr>
        <p:blipFill rotWithShape="1">
          <a:blip r:embed="rId4">
            <a:alphaModFix/>
          </a:blip>
          <a:srcRect b="0" l="0" r="16093" t="0"/>
          <a:stretch/>
        </p:blipFill>
        <p:spPr>
          <a:xfrm>
            <a:off x="283400" y="4202075"/>
            <a:ext cx="5394226" cy="1729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4" name="Google Shape;284;g3f8a7d11e69_3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472" y="1430200"/>
            <a:ext cx="5376852" cy="41125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g3f8a7d11e69_3_16"/>
          <p:cNvSpPr txBox="1"/>
          <p:nvPr/>
        </p:nvSpPr>
        <p:spPr>
          <a:xfrm>
            <a:off x="229725" y="6079300"/>
            <a:ext cx="552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</a:rPr>
              <a:t>Figure</a:t>
            </a:r>
            <a:r>
              <a:rPr i="1" lang="en-US" sz="1100">
                <a:solidFill>
                  <a:schemeClr val="dk1"/>
                </a:solidFill>
              </a:rPr>
              <a:t>: (Top Image) Functional Test of Manual Pump Turnover. (Bottom Image) Functional Test of Fan Override</a:t>
            </a:r>
            <a:endParaRPr i="1" sz="700"/>
          </a:p>
        </p:txBody>
      </p:sp>
      <p:sp>
        <p:nvSpPr>
          <p:cNvPr id="286" name="Google Shape;286;g3f8a7d11e69_3_16"/>
          <p:cNvSpPr txBox="1"/>
          <p:nvPr/>
        </p:nvSpPr>
        <p:spPr>
          <a:xfrm>
            <a:off x="6615475" y="5791425"/>
            <a:ext cx="552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</a:rPr>
              <a:t>Figure</a:t>
            </a:r>
            <a:r>
              <a:rPr i="1" lang="en-US" sz="1100">
                <a:solidFill>
                  <a:schemeClr val="dk1"/>
                </a:solidFill>
              </a:rPr>
              <a:t>: Snippet of Code Containing Cause &amp; Effect Temperature Logic </a:t>
            </a:r>
            <a:endParaRPr i="1" sz="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/>
          <p:nvPr>
            <p:ph type="title"/>
          </p:nvPr>
        </p:nvSpPr>
        <p:spPr>
          <a:xfrm>
            <a:off x="6267000" y="0"/>
            <a:ext cx="53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pic>
        <p:nvPicPr>
          <p:cNvPr id="292" name="Google Shape;29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5975"/>
            <a:ext cx="11887200" cy="400603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 txBox="1"/>
          <p:nvPr/>
        </p:nvSpPr>
        <p:spPr>
          <a:xfrm>
            <a:off x="10146900" y="6465600"/>
            <a:ext cx="204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*Contains AI generated content*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>
            <p:ph type="title"/>
          </p:nvPr>
        </p:nvSpPr>
        <p:spPr>
          <a:xfrm>
            <a:off x="7133625" y="0"/>
            <a:ext cx="37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299" name="Google Shape;2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11887199" cy="5616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9"/>
          <p:cNvCxnSpPr/>
          <p:nvPr/>
        </p:nvCxnSpPr>
        <p:spPr>
          <a:xfrm>
            <a:off x="4101450" y="6676775"/>
            <a:ext cx="354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 txBox="1"/>
          <p:nvPr>
            <p:ph type="title"/>
          </p:nvPr>
        </p:nvSpPr>
        <p:spPr>
          <a:xfrm>
            <a:off x="609600" y="2971812"/>
            <a:ext cx="1098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Won Jang</dc:creator>
</cp:coreProperties>
</file>