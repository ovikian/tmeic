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717FA7-96EC-4E38-B2B8-0F1CB28CB8CB}">
  <a:tblStyle styleId="{6C717FA7-96EC-4E38-B2B8-0F1CB28CB8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A09C50B-7DE2-43D7-BB85-6B5A5B2AB7F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a7d11e6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8a7d11e6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a7d11e69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8a7d11e69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09e9cd8662_9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409e9cd8662_9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e9cd8662_9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409e9cd8662_9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09ef1cdf4f_14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409ef1cdf4f_14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b52ff79a8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b52ff79a8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a7d11e69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8a7d11e69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9ef1cdf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409ef1cdf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b00309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8b00309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8b00309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09ee505ee2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409ee505ee2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a7d11e6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8a7d11e6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8a7d11e6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9ee505ee2_1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09ee505ee2_1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409ee505ee2_1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52ff79a8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b52ff79a8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09e9cd8662_9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409e9cd8662_9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09e9cd8662_9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409e9cd8662_9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843637"/>
            <a:ext cx="1098126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758037"/>
            <a:ext cx="10972800" cy="471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46906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1368" y="6469064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2" y="646906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35" y="152401"/>
            <a:ext cx="3258487" cy="49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09600" y="1647394"/>
            <a:ext cx="5384800" cy="481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197600" y="1647394"/>
            <a:ext cx="5384800" cy="481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609600" y="843637"/>
            <a:ext cx="10981267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/>
          <p:nvPr>
            <p:ph idx="2" type="pic"/>
          </p:nvPr>
        </p:nvSpPr>
        <p:spPr>
          <a:xfrm>
            <a:off x="4267200" y="1196431"/>
            <a:ext cx="73152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09600" y="1768044"/>
            <a:ext cx="3431563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857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ctrTitle"/>
          </p:nvPr>
        </p:nvSpPr>
        <p:spPr>
          <a:xfrm>
            <a:off x="4700349" y="3428999"/>
            <a:ext cx="7302600" cy="26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TMEIC DI-Water Cooling Skid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455"/>
              <a:t>Ethan Henderson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Robert Parker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Noah Ovikian</a:t>
            </a:r>
            <a:br>
              <a:rPr lang="en-US" sz="2455"/>
            </a:br>
            <a:r>
              <a:rPr lang="en-US" sz="2455"/>
              <a:t>Sponsor: TMEIC</a:t>
            </a:r>
            <a:br>
              <a:rPr lang="en-US" sz="2455"/>
            </a:br>
            <a:r>
              <a:rPr lang="en-US" sz="2455"/>
              <a:t>TA: Jerry Xu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8"/>
          <p:cNvSpPr/>
          <p:nvPr/>
        </p:nvSpPr>
        <p:spPr>
          <a:xfrm>
            <a:off x="1447" y="1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875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 rot="-2700000">
            <a:off x="-2668861" y="334923"/>
            <a:ext cx="9470423" cy="3068702"/>
          </a:xfrm>
          <a:prstGeom prst="trapezoid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362550" y="1241450"/>
            <a:ext cx="11466900" cy="4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Problem Statement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TMEIC’s high-power VFDs rely on deionized-water cooling to protect inverter IGBTs from damaging heat. Using a full-scale cooling system for customer training is costly, cumbersome, and impractical, yet trainees still need realistic operating and troubleshooting scenarios.</a:t>
            </a:r>
            <a:endParaRPr sz="2400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Our Solution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We are designing and building a compact, temperature-controlled DI water cooling skid for TMEIC’s training facility. It will reproduce the behavior of the full-scale system, enabling accurate hands-on testing, diagnostics, and troubleshooting at a fraction of the scale, cost, and complexity.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463" y="1035375"/>
            <a:ext cx="9027073" cy="56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654875" y="0"/>
            <a:ext cx="450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System Overview </a:t>
            </a:r>
            <a:endParaRPr/>
          </a:p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400" y="1065650"/>
            <a:ext cx="10163199" cy="4726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80" name="Google Shape;80;p11"/>
          <p:cNvSpPr txBox="1"/>
          <p:nvPr/>
        </p:nvSpPr>
        <p:spPr>
          <a:xfrm>
            <a:off x="1258100" y="1250775"/>
            <a:ext cx="39105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BBB59"/>
                </a:solidFill>
              </a:rPr>
              <a:t>Ethan Henderson</a:t>
            </a:r>
            <a:endParaRPr sz="3200">
              <a:solidFill>
                <a:srgbClr val="9BBB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BACC6"/>
                </a:solidFill>
              </a:rPr>
              <a:t>Robert Parker</a:t>
            </a:r>
            <a:endParaRPr sz="3200">
              <a:solidFill>
                <a:srgbClr val="4BAC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504D"/>
                </a:solidFill>
              </a:rPr>
              <a:t>Noah Ovikian</a:t>
            </a:r>
            <a:endParaRPr sz="3200">
              <a:solidFill>
                <a:srgbClr val="C0504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6517400" y="0"/>
            <a:ext cx="473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Phase I Timeline </a:t>
            </a:r>
            <a:endParaRPr/>
          </a:p>
        </p:txBody>
      </p:sp>
      <p:cxnSp>
        <p:nvCxnSpPr>
          <p:cNvPr id="86" name="Google Shape;86;p12"/>
          <p:cNvCxnSpPr/>
          <p:nvPr/>
        </p:nvCxnSpPr>
        <p:spPr>
          <a:xfrm>
            <a:off x="549450" y="3413775"/>
            <a:ext cx="11010000" cy="0"/>
          </a:xfrm>
          <a:prstGeom prst="straightConnector1">
            <a:avLst/>
          </a:prstGeom>
          <a:noFill/>
          <a:ln cap="flat" cmpd="sng" w="7620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2"/>
          <p:cNvCxnSpPr/>
          <p:nvPr/>
        </p:nvCxnSpPr>
        <p:spPr>
          <a:xfrm>
            <a:off x="54945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2"/>
          <p:cNvCxnSpPr/>
          <p:nvPr/>
        </p:nvCxnSpPr>
        <p:spPr>
          <a:xfrm>
            <a:off x="26952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2"/>
          <p:cNvCxnSpPr/>
          <p:nvPr/>
        </p:nvCxnSpPr>
        <p:spPr>
          <a:xfrm>
            <a:off x="69016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2"/>
          <p:cNvCxnSpPr/>
          <p:nvPr/>
        </p:nvCxnSpPr>
        <p:spPr>
          <a:xfrm>
            <a:off x="1124960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/>
          <p:nvPr/>
        </p:nvSpPr>
        <p:spPr>
          <a:xfrm>
            <a:off x="66775" y="1859175"/>
            <a:ext cx="2121900" cy="1415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187975" y="18591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</a:rPr>
              <a:t>AUG 29</a:t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Design Baseline Complete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Controls architecture &amp; materials baseline set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3736088" y="1739475"/>
            <a:ext cx="2121900" cy="1534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3857288" y="17394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CC0000"/>
                </a:solidFill>
              </a:rPr>
              <a:t>SEP</a:t>
            </a:r>
            <a:r>
              <a:rPr b="1" lang="en-US" sz="1000">
                <a:solidFill>
                  <a:srgbClr val="CC0000"/>
                </a:solidFill>
              </a:rPr>
              <a:t> 14 – SEP 17</a:t>
            </a:r>
            <a:endParaRPr b="1" sz="10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 Electrical Equipment Received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21030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AUG 29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2356075" y="2995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SEP 10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555675" y="2995272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SEP 17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1634275" y="3553275"/>
            <a:ext cx="2121900" cy="1415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1755475" y="35532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1C232"/>
                </a:solidFill>
              </a:rPr>
              <a:t>SEP 10</a:t>
            </a:r>
            <a:endParaRPr b="1" sz="10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 Construction Start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Phase I items procured - target testing by 9/17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5840675" y="3553275"/>
            <a:ext cx="2121900" cy="165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5961875" y="3553275"/>
            <a:ext cx="18591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SEP 17 – SEP 24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 Testing Start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Pump Curve</a:t>
            </a:r>
            <a:endParaRPr sz="1000"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Pump Power &amp; Control</a:t>
            </a:r>
            <a:endParaRPr sz="1000"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Flow Control &amp; Measurement</a:t>
            </a:r>
            <a:endParaRPr sz="1000"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88888"/>
                </a:solidFill>
              </a:rPr>
              <a:t>Digital Twin Refinement</a:t>
            </a:r>
            <a:endParaRPr b="1" sz="1000">
              <a:solidFill>
                <a:srgbClr val="888888"/>
              </a:solidFill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0188650" y="1859175"/>
            <a:ext cx="1859100" cy="14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10244700" y="1859175"/>
            <a:ext cx="18030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SEP 24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II Construction Start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091045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SEP 24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2822938" y="6239000"/>
            <a:ext cx="211800" cy="2118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3034738" y="6152900"/>
            <a:ext cx="11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Complete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4306013" y="6239000"/>
            <a:ext cx="211800" cy="2118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4517813" y="6152900"/>
            <a:ext cx="131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In Progress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5893850" y="6239000"/>
            <a:ext cx="211800" cy="2118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/>
        </p:nvSpPr>
        <p:spPr>
          <a:xfrm>
            <a:off x="6105663" y="6152900"/>
            <a:ext cx="18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Behind Schedule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7908650" y="6239000"/>
            <a:ext cx="211800" cy="211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8120464" y="6152900"/>
            <a:ext cx="124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Not Started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10146900" y="6465600"/>
            <a:ext cx="204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*Contains AI generated content*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14" name="Google Shape;114;p12"/>
          <p:cNvCxnSpPr/>
          <p:nvPr/>
        </p:nvCxnSpPr>
        <p:spPr>
          <a:xfrm>
            <a:off x="47988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2"/>
          <p:cNvSpPr txBox="1"/>
          <p:nvPr/>
        </p:nvSpPr>
        <p:spPr>
          <a:xfrm>
            <a:off x="4459275" y="3553272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SEP 14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title"/>
          </p:nvPr>
        </p:nvSpPr>
        <p:spPr>
          <a:xfrm>
            <a:off x="6267000" y="0"/>
            <a:ext cx="53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pic>
        <p:nvPicPr>
          <p:cNvPr id="121" name="Google Shape;12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100" y="4023650"/>
            <a:ext cx="2103700" cy="193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6850" y="4071350"/>
            <a:ext cx="1897850" cy="18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0925" y="1012400"/>
            <a:ext cx="2610150" cy="235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499200" y="4577700"/>
            <a:ext cx="1193600" cy="829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3"/>
          <p:cNvCxnSpPr>
            <a:endCxn id="121" idx="3"/>
          </p:cNvCxnSpPr>
          <p:nvPr/>
        </p:nvCxnSpPr>
        <p:spPr>
          <a:xfrm rot="10800000">
            <a:off x="3295800" y="4992525"/>
            <a:ext cx="2203500" cy="2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3"/>
          <p:cNvCxnSpPr>
            <a:endCxn id="122" idx="1"/>
          </p:cNvCxnSpPr>
          <p:nvPr/>
        </p:nvCxnSpPr>
        <p:spPr>
          <a:xfrm>
            <a:off x="6692750" y="4992375"/>
            <a:ext cx="2414100" cy="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7" name="Google Shape;127;p13"/>
          <p:cNvSpPr txBox="1"/>
          <p:nvPr/>
        </p:nvSpPr>
        <p:spPr>
          <a:xfrm>
            <a:off x="9154425" y="5961400"/>
            <a:ext cx="1802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The Void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6938" y="5996057"/>
            <a:ext cx="1574025" cy="5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2100" y="3166475"/>
            <a:ext cx="767800" cy="693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3"/>
          <p:cNvCxnSpPr/>
          <p:nvPr/>
        </p:nvCxnSpPr>
        <p:spPr>
          <a:xfrm flipH="1" rot="10800000">
            <a:off x="3195325" y="3166850"/>
            <a:ext cx="1697700" cy="10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131" name="Google Shape;13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169517">
            <a:off x="3446563" y="3295625"/>
            <a:ext cx="1193600" cy="8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3"/>
          <p:cNvSpPr txBox="1"/>
          <p:nvPr/>
        </p:nvSpPr>
        <p:spPr>
          <a:xfrm>
            <a:off x="1926050" y="1703575"/>
            <a:ext cx="18027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Est. Delivery - 9/18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24VDC 10A PS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24VDC 20A PS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600mA fuse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1A fuse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DIN Rail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14 AWG wire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7422025" y="1302500"/>
            <a:ext cx="1802700" cy="27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Received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Pumps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Conductivity probe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Control System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RTDs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Pump Relays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Fan Relay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Power Switches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Current probe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Voltage probe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Pressure switch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3-way valve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5299975" y="5312025"/>
            <a:ext cx="18027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Est. Delivery - 9/29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Flow meter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35" name="Google Shape;135;p13"/>
          <p:cNvCxnSpPr/>
          <p:nvPr/>
        </p:nvCxnSpPr>
        <p:spPr>
          <a:xfrm>
            <a:off x="9010825" y="1747700"/>
            <a:ext cx="48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3"/>
          <p:cNvCxnSpPr/>
          <p:nvPr/>
        </p:nvCxnSpPr>
        <p:spPr>
          <a:xfrm>
            <a:off x="9010825" y="3473750"/>
            <a:ext cx="48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/>
          <p:cNvCxnSpPr/>
          <p:nvPr/>
        </p:nvCxnSpPr>
        <p:spPr>
          <a:xfrm>
            <a:off x="9010825" y="4023800"/>
            <a:ext cx="48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/>
          <p:cNvCxnSpPr/>
          <p:nvPr/>
        </p:nvCxnSpPr>
        <p:spPr>
          <a:xfrm>
            <a:off x="9491125" y="1741775"/>
            <a:ext cx="0" cy="228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13"/>
          <p:cNvSpPr txBox="1"/>
          <p:nvPr/>
        </p:nvSpPr>
        <p:spPr>
          <a:xfrm>
            <a:off x="9547725" y="2301175"/>
            <a:ext cx="1016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FEDC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9533225" y="3473750"/>
            <a:ext cx="11937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J. Cain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7133625" y="0"/>
            <a:ext cx="37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cxnSp>
        <p:nvCxnSpPr>
          <p:cNvPr id="146" name="Google Shape;146;p14"/>
          <p:cNvCxnSpPr/>
          <p:nvPr/>
        </p:nvCxnSpPr>
        <p:spPr>
          <a:xfrm>
            <a:off x="4101450" y="6676775"/>
            <a:ext cx="354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7" name="Google Shape;14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11887198" cy="48274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15"/>
          <p:cNvGraphicFramePr/>
          <p:nvPr/>
        </p:nvGraphicFramePr>
        <p:xfrm>
          <a:off x="609600" y="1244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{6C717FA7-96EC-4E38-B2B8-0F1CB28CB8CB}</a:tableStyleId>
              </a:tblPr>
              <a:tblGrid>
                <a:gridCol w="5494025"/>
                <a:gridCol w="5478775"/>
              </a:tblGrid>
              <a:tr h="92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Accomplishments (8/31 - 9/16) </a:t>
                      </a:r>
                      <a:r>
                        <a:rPr lang="en-US" sz="1800" u="none" cap="none" strike="noStrike"/>
                        <a:t>                        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 Progress (9/16 - 9/30)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923150"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2"/>
                          </a:solidFill>
                        </a:rPr>
                        <a:t>Coordinated with FEDC on DI-water source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-3111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○"/>
                      </a:pPr>
                      <a:r>
                        <a:rPr lang="en-US" sz="1300">
                          <a:solidFill>
                            <a:schemeClr val="dk2"/>
                          </a:solidFill>
                        </a:rPr>
                        <a:t>water testing weekly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2"/>
                          </a:solidFill>
                        </a:rPr>
                        <a:t>Initiated work on Digital Twin to maximize testing efficiency - Control Software/MEEN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2"/>
                          </a:solidFill>
                        </a:rPr>
                        <a:t>Organized procurement of Power System and Control Hardware materials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2"/>
                          </a:solidFill>
                        </a:rPr>
                        <a:t>Established Gantt Chart to coordinate ECEN and MEEN responsibilities and action items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2"/>
                          </a:solidFill>
                        </a:rPr>
                        <a:t>Worked with MEEN TL to create a Project Success Agreement to define project expectations and to freeze scope expansions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Adapted Skid Power system design to supply chain related design changes - Skid Power System will have dual power supplies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2"/>
                          </a:solidFill>
                        </a:rPr>
                        <a:t>Continue working to provide clarity on project-class requirements and expectations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2"/>
                          </a:solidFill>
                        </a:rPr>
                        <a:t>Develop temporary alternatives in light of supply chain delays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2"/>
                          </a:solidFill>
                        </a:rPr>
                        <a:t>Negotiate for more dedicated time for water testing each week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2"/>
                          </a:solidFill>
                        </a:rPr>
                        <a:t>Position ECEN group in preparation for Phase I testing and Phase II construction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Receive power supplies and connect them with their corresponding loads with temporary wiring arrangement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Run load test with existing loads and monitor the new power supply’s voltage regulation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Complete Phase I testing and present findings to TMEIC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15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Power | </a:t>
            </a:r>
            <a:r>
              <a:rPr b="1" lang="en-US" sz="3600">
                <a:solidFill>
                  <a:schemeClr val="dk2"/>
                </a:solidFill>
              </a:rPr>
              <a:t>ECEN Team Lead</a:t>
            </a:r>
            <a:endParaRPr b="1" sz="3600">
              <a:solidFill>
                <a:schemeClr val="dk2"/>
              </a:solidFill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Accomplishments &amp; Progress</a:t>
            </a:r>
            <a:endParaRPr i="1"/>
          </a:p>
        </p:txBody>
      </p:sp>
      <p:cxnSp>
        <p:nvCxnSpPr>
          <p:cNvPr id="155" name="Google Shape;155;p15"/>
          <p:cNvCxnSpPr/>
          <p:nvPr/>
        </p:nvCxnSpPr>
        <p:spPr>
          <a:xfrm>
            <a:off x="782125" y="5293750"/>
            <a:ext cx="51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5"/>
          <p:cNvCxnSpPr/>
          <p:nvPr/>
        </p:nvCxnSpPr>
        <p:spPr>
          <a:xfrm>
            <a:off x="6247325" y="4463725"/>
            <a:ext cx="51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675" y="2034350"/>
            <a:ext cx="7269300" cy="46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476900" y="1058750"/>
            <a:ext cx="11560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The revised design reduces cost without compromising critical pump reliability by segregating standard loads onto the lower-cost 20A supply and the pump onto the higher-quality 10A supply.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816" y="2034350"/>
            <a:ext cx="5194371" cy="46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476900" y="1058750"/>
            <a:ext cx="11560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The revised design reduces cost without compromising critical pump reliability by segregating standard loads onto the lower-cost 20A supply and the pump onto the higher-quality 10A supply.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18"/>
          <p:cNvGraphicFramePr/>
          <p:nvPr/>
        </p:nvGraphicFramePr>
        <p:xfrm>
          <a:off x="609600" y="2005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{6C717FA7-96EC-4E38-B2B8-0F1CB28CB8CB}</a:tableStyleId>
              </a:tblPr>
              <a:tblGrid>
                <a:gridCol w="5494025"/>
                <a:gridCol w="547877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Accomplishments (8/31 - 9/16)</a:t>
                      </a:r>
                      <a:r>
                        <a:rPr lang="en-US" sz="1800" u="none" cap="none" strike="noStrike"/>
                        <a:t>                       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 Progress (9/16 - 9/30)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Selected Power Monitor transmitters and valve actuator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Re-selected pressure switch and flow transmitter to reflect changes in MEEN specifications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Ordered remaining parts with sponsor</a:t>
                      </a:r>
                      <a:endParaRPr sz="1800"/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Refactor HMI screens</a:t>
                      </a:r>
                      <a:endParaRPr b="1" sz="18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Update to include data marked on a simplified P&amp;ID</a:t>
                      </a:r>
                      <a:endParaRPr sz="18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Update variable addresses to match new PLC Program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Phase 1 build and test</a:t>
                      </a:r>
                      <a:endParaRPr b="1" sz="18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Install float switches to reservoir</a:t>
                      </a:r>
                      <a:endParaRPr sz="18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Test Control of Pumps via digital out to relays</a:t>
                      </a:r>
                      <a:endParaRPr sz="18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Test Flow Meter with Phase 1 build (Blocked until flow meter arrives)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8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Hardware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Accomplishments &amp; Progress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Hardware</a:t>
            </a:r>
            <a:endParaRPr b="1" sz="3600">
              <a:solidFill>
                <a:srgbClr val="000000"/>
              </a:solidFill>
            </a:endParaRPr>
          </a:p>
        </p:txBody>
      </p:sp>
      <p:graphicFrame>
        <p:nvGraphicFramePr>
          <p:cNvPr id="184" name="Google Shape;184;p19"/>
          <p:cNvGraphicFramePr/>
          <p:nvPr/>
        </p:nvGraphicFramePr>
        <p:xfrm>
          <a:off x="952500" y="227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{1A09C50B-7DE2-43D7-BB85-6B5A5B2AB7FF}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Component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Part number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Procurement Status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(Re)specified since last presentation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Flow </a:t>
                      </a:r>
                      <a:r>
                        <a:rPr lang="en-US" sz="1700"/>
                        <a:t>Transmitter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</a:rPr>
                        <a:t>RCM 3/4"-</a:t>
                      </a:r>
                      <a:r>
                        <a:rPr lang="en-US" sz="1700"/>
                        <a:t>7</a:t>
                      </a:r>
                      <a:r>
                        <a:rPr lang="en-US" sz="1700">
                          <a:solidFill>
                            <a:srgbClr val="000000"/>
                          </a:solidFill>
                        </a:rPr>
                        <a:t>3-R-</a:t>
                      </a:r>
                      <a:r>
                        <a:rPr lang="en-US" sz="1700"/>
                        <a:t>6</a:t>
                      </a:r>
                      <a:r>
                        <a:rPr lang="en-US" sz="1700">
                          <a:solidFill>
                            <a:srgbClr val="000000"/>
                          </a:solidFill>
                        </a:rPr>
                        <a:t>-W</a:t>
                      </a: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Estimated 9/29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Yes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Pressure Switch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B420B15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Received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Yes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Conductivity Meter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CM442R-AAM1A2F21+SA#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Received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No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Current Meter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CR5220-20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Received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Voltage Meter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VDCT050-42-24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Received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Valve Actuator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Valworx 563706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Received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Yes</a:t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85" name="Google Shape;185;p19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Parts Procurement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Software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Accomplishments &amp; Progress</a:t>
            </a:r>
            <a:endParaRPr i="1"/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609599" y="2005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{6C717FA7-96EC-4E38-B2B8-0F1CB28CB8CB}</a:tableStyleId>
              </a:tblPr>
              <a:tblGrid>
                <a:gridCol w="5486400"/>
                <a:gridCol w="5486400"/>
              </a:tblGrid>
              <a:tr h="927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</a:t>
                      </a:r>
                      <a:r>
                        <a:rPr lang="en-US" sz="1800"/>
                        <a:t>(8/31 - 9/16)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 Progress (9/16 - 9/30)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6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Digital Twin Reboot</a:t>
                      </a:r>
                      <a:endParaRPr b="1" sz="1500"/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Reconstructed model with upgraded components for accuracy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Simulated 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multistage 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controller for integration prep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PLC Logic Updates</a:t>
                      </a:r>
                      <a:endParaRPr b="1" sz="1500"/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Added pump cycling and usage tracking per MEEN request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Updated controller to multistage per sponsor request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Implemented controller 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hysteresis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 filter due to initial simulation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Added comments to code!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</a:rPr>
                        <a:t>Documentation Creation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Created Control Narrative (Rev A)  for scope 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alignment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</a:rPr>
                        <a:t>Digital Twin Refinement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Work w/ MEENs to further improve model accuracy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Continue virtual simulations for additional test preparation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</a:rPr>
                        <a:t>PLC Logic Adjustments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Create additional startup phase (anticipation of transients)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Adjust per virtual and physical simulation results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</a:rPr>
                        <a:t>Continued Integration (ELEN &amp; MEEN)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Establish MODBUS Comms. w/ PLC Vars. &amp; HMI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Test Pump Switching, Vessel Level Logic, &amp; Flow* Observation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</a:rPr>
                        <a:t>Documentation Revisions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-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Finish Rev B of Control Narrative &amp; Finish PLC Point List (Rev A)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6594675" y="6057600"/>
            <a:ext cx="4311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*Currently awaiting flow meter delivery - physical testing may be pushed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Software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85750" y="6248125"/>
            <a:ext cx="6346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Figure CS.1:</a:t>
            </a:r>
            <a:r>
              <a:rPr lang="en-US" sz="1200">
                <a:solidFill>
                  <a:schemeClr val="dk1"/>
                </a:solidFill>
              </a:rPr>
              <a:t> Current Digital Twin Simscape Model. Orange = Heat Circuit, Purple = Gas Circuit, Yellow = Thermal Liquid Circuit, Brown = Physical Signals, Black = Simulink Signals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Digital Twin Simscape Model</a:t>
            </a:r>
            <a:endParaRPr i="1"/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244225"/>
            <a:ext cx="6346504" cy="4910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21"/>
          <p:cNvSpPr txBox="1"/>
          <p:nvPr/>
        </p:nvSpPr>
        <p:spPr>
          <a:xfrm>
            <a:off x="6936600" y="1634313"/>
            <a:ext cx="5195100" cy="4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Rudimentary Simscape Model (Digital Twin) of Cooling Skid 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Removed </a:t>
            </a:r>
            <a:r>
              <a:rPr lang="en-US" sz="2200"/>
              <a:t>Artificial</a:t>
            </a:r>
            <a:r>
              <a:rPr lang="en-US" sz="2200"/>
              <a:t> Flow Control, Pipe Mechanism, PI Controller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Added Constant Volume Vessel (“plant” in system), 3-way valve, heat exchanger, valve actuator, digital logic multistage controller w/ hysteresis filter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Software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81388" y="5577100"/>
            <a:ext cx="7884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Figure CS.2:</a:t>
            </a:r>
            <a:r>
              <a:rPr lang="en-US" sz="1200">
                <a:solidFill>
                  <a:schemeClr val="dk1"/>
                </a:solidFill>
              </a:rPr>
              <a:t> Temperature (°C), Valve state and VFD Heat Load(W). VFD Heat Load is independent variable, a 400W sinusoidal signal at  0.0002 Hz with a 600W bias. Simulation time is 10000 seconds.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Current Simulation Results</a:t>
            </a:r>
            <a:endParaRPr i="1"/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53" y="1429718"/>
            <a:ext cx="7785865" cy="396188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" name="Google Shape;213;p22"/>
          <p:cNvSpPr txBox="1"/>
          <p:nvPr/>
        </p:nvSpPr>
        <p:spPr>
          <a:xfrm>
            <a:off x="8317000" y="1345313"/>
            <a:ext cx="3926700" cy="4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Consistent</a:t>
            </a:r>
            <a:r>
              <a:rPr lang="en-US" sz="2200">
                <a:solidFill>
                  <a:schemeClr val="dk1"/>
                </a:solidFill>
              </a:rPr>
              <a:t> Temperature </a:t>
            </a:r>
            <a:r>
              <a:rPr lang="en-US" sz="2200">
                <a:solidFill>
                  <a:schemeClr val="dk1"/>
                </a:solidFill>
              </a:rPr>
              <a:t>Control</a:t>
            </a:r>
            <a:r>
              <a:rPr lang="en-US" sz="2200">
                <a:solidFill>
                  <a:schemeClr val="dk1"/>
                </a:solidFill>
              </a:rPr>
              <a:t> Over Variable Heat Load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General behavior confirmed w/ MEEN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Change to existing assumptions &amp; ideals (head loss, </a:t>
            </a:r>
            <a:r>
              <a:rPr lang="en-US" sz="2200">
                <a:solidFill>
                  <a:schemeClr val="dk1"/>
                </a:solidFill>
              </a:rPr>
              <a:t>orifice</a:t>
            </a:r>
            <a:r>
              <a:rPr lang="en-US" sz="2200">
                <a:solidFill>
                  <a:schemeClr val="dk1"/>
                </a:solidFill>
              </a:rPr>
              <a:t> size, exchanger efficiency) may alter results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MEEN Integration</a:t>
            </a:r>
            <a:endParaRPr/>
          </a:p>
        </p:txBody>
      </p:sp>
      <p:grpSp>
        <p:nvGrpSpPr>
          <p:cNvPr id="219" name="Google Shape;219;p23"/>
          <p:cNvGrpSpPr/>
          <p:nvPr/>
        </p:nvGrpSpPr>
        <p:grpSpPr>
          <a:xfrm>
            <a:off x="2815513" y="1473325"/>
            <a:ext cx="6560975" cy="4738100"/>
            <a:chOff x="1475225" y="1160175"/>
            <a:chExt cx="6560975" cy="4738100"/>
          </a:xfrm>
        </p:grpSpPr>
        <p:grpSp>
          <p:nvGrpSpPr>
            <p:cNvPr id="220" name="Google Shape;220;p23"/>
            <p:cNvGrpSpPr/>
            <p:nvPr/>
          </p:nvGrpSpPr>
          <p:grpSpPr>
            <a:xfrm>
              <a:off x="1475225" y="1160175"/>
              <a:ext cx="5239625" cy="4738100"/>
              <a:chOff x="2737475" y="1268575"/>
              <a:chExt cx="5239625" cy="4738100"/>
            </a:xfrm>
          </p:grpSpPr>
          <p:pic>
            <p:nvPicPr>
              <p:cNvPr id="221" name="Google Shape;221;p23"/>
              <p:cNvPicPr preferRelativeResize="0"/>
              <p:nvPr/>
            </p:nvPicPr>
            <p:blipFill rotWithShape="1">
              <a:blip r:embed="rId3">
                <a:alphaModFix/>
              </a:blip>
              <a:srcRect b="16163" l="13851" r="33000" t="4099"/>
              <a:stretch/>
            </p:blipFill>
            <p:spPr>
              <a:xfrm>
                <a:off x="2832850" y="1268575"/>
                <a:ext cx="4797751" cy="45402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23"/>
              <p:cNvSpPr/>
              <p:nvPr/>
            </p:nvSpPr>
            <p:spPr>
              <a:xfrm>
                <a:off x="2737475" y="3862850"/>
                <a:ext cx="1269600" cy="194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3"/>
              <p:cNvSpPr/>
              <p:nvPr/>
            </p:nvSpPr>
            <p:spPr>
              <a:xfrm>
                <a:off x="5113900" y="5482575"/>
                <a:ext cx="2332800" cy="524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3"/>
              <p:cNvSpPr/>
              <p:nvPr/>
            </p:nvSpPr>
            <p:spPr>
              <a:xfrm>
                <a:off x="4513900" y="1268575"/>
                <a:ext cx="2577600" cy="1542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>
                <a:off x="6391600" y="1510825"/>
                <a:ext cx="1585500" cy="2102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26" name="Google Shape;226;p23"/>
            <p:cNvCxnSpPr/>
            <p:nvPr/>
          </p:nvCxnSpPr>
          <p:spPr>
            <a:xfrm>
              <a:off x="6342000" y="4328850"/>
              <a:ext cx="503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7" name="Google Shape;227;p23"/>
            <p:cNvSpPr txBox="1"/>
            <p:nvPr/>
          </p:nvSpPr>
          <p:spPr>
            <a:xfrm>
              <a:off x="2307375" y="1798275"/>
              <a:ext cx="903300" cy="615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</a:rPr>
                <a:t>DI Water 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</a:rPr>
                <a:t>Tank</a:t>
              </a:r>
              <a:endParaRPr>
                <a:solidFill>
                  <a:schemeClr val="dk1"/>
                </a:solidFill>
              </a:endParaRPr>
            </a:p>
          </p:txBody>
        </p:sp>
        <p:pic>
          <p:nvPicPr>
            <p:cNvPr id="228" name="Google Shape;228;p23"/>
            <p:cNvPicPr preferRelativeResize="0"/>
            <p:nvPr/>
          </p:nvPicPr>
          <p:blipFill rotWithShape="1">
            <a:blip r:embed="rId4">
              <a:alphaModFix/>
            </a:blip>
            <a:srcRect b="6769" l="0" r="0" t="0"/>
            <a:stretch/>
          </p:blipFill>
          <p:spPr>
            <a:xfrm>
              <a:off x="6845400" y="3838325"/>
              <a:ext cx="357725" cy="531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9" name="Google Shape;229;p23"/>
            <p:cNvCxnSpPr/>
            <p:nvPr/>
          </p:nvCxnSpPr>
          <p:spPr>
            <a:xfrm>
              <a:off x="7156750" y="4328850"/>
              <a:ext cx="503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23"/>
            <p:cNvSpPr/>
            <p:nvPr/>
          </p:nvSpPr>
          <p:spPr>
            <a:xfrm>
              <a:off x="7322200" y="4659525"/>
              <a:ext cx="675900" cy="193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1" name="Google Shape;231;p23"/>
            <p:cNvCxnSpPr/>
            <p:nvPr/>
          </p:nvCxnSpPr>
          <p:spPr>
            <a:xfrm>
              <a:off x="7660150" y="4319500"/>
              <a:ext cx="0" cy="43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23"/>
            <p:cNvCxnSpPr>
              <a:stCxn id="230" idx="2"/>
            </p:cNvCxnSpPr>
            <p:nvPr/>
          </p:nvCxnSpPr>
          <p:spPr>
            <a:xfrm>
              <a:off x="7322200" y="4756125"/>
              <a:ext cx="0" cy="74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23"/>
            <p:cNvCxnSpPr>
              <a:stCxn id="230" idx="6"/>
            </p:cNvCxnSpPr>
            <p:nvPr/>
          </p:nvCxnSpPr>
          <p:spPr>
            <a:xfrm>
              <a:off x="7998100" y="4756125"/>
              <a:ext cx="0" cy="743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23"/>
            <p:cNvCxnSpPr/>
            <p:nvPr/>
          </p:nvCxnSpPr>
          <p:spPr>
            <a:xfrm rot="10800000">
              <a:off x="7318225" y="5496225"/>
              <a:ext cx="680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5" name="Google Shape;235;p23"/>
            <p:cNvSpPr txBox="1"/>
            <p:nvPr/>
          </p:nvSpPr>
          <p:spPr>
            <a:xfrm>
              <a:off x="7284100" y="4969213"/>
              <a:ext cx="7521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</a:rPr>
                <a:t>Bucket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3"/>
          <p:cNvSpPr txBox="1"/>
          <p:nvPr>
            <p:ph type="title"/>
          </p:nvPr>
        </p:nvSpPr>
        <p:spPr>
          <a:xfrm>
            <a:off x="6521275" y="914400"/>
            <a:ext cx="46476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000"/>
              <a:buFont typeface="Arial"/>
              <a:buNone/>
            </a:pPr>
            <a:r>
              <a:rPr b="0" i="1" lang="en-US" sz="2500"/>
              <a:t>Phase I</a:t>
            </a:r>
            <a:endParaRPr b="0" i="1"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987" y="1372300"/>
            <a:ext cx="6946020" cy="52095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24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MEEN Integration</a:t>
            </a:r>
            <a:endParaRPr/>
          </a:p>
        </p:txBody>
      </p:sp>
      <p:sp>
        <p:nvSpPr>
          <p:cNvPr id="243" name="Google Shape;243;p24"/>
          <p:cNvSpPr txBox="1"/>
          <p:nvPr>
            <p:ph type="title"/>
          </p:nvPr>
        </p:nvSpPr>
        <p:spPr>
          <a:xfrm>
            <a:off x="6521275" y="914400"/>
            <a:ext cx="46476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000"/>
              <a:buFont typeface="Arial"/>
              <a:buNone/>
            </a:pPr>
            <a:r>
              <a:rPr b="0" i="1" lang="en-US" sz="2500"/>
              <a:t>Phase I</a:t>
            </a:r>
            <a:endParaRPr b="0" i="1"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MEEN Integration</a:t>
            </a:r>
            <a:endParaRPr/>
          </a:p>
        </p:txBody>
      </p:sp>
      <p:sp>
        <p:nvSpPr>
          <p:cNvPr id="249" name="Google Shape;249;p25"/>
          <p:cNvSpPr txBox="1"/>
          <p:nvPr>
            <p:ph type="title"/>
          </p:nvPr>
        </p:nvSpPr>
        <p:spPr>
          <a:xfrm>
            <a:off x="6521275" y="914400"/>
            <a:ext cx="46476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000"/>
              <a:buFont typeface="Arial"/>
              <a:buNone/>
            </a:pPr>
            <a:r>
              <a:rPr b="0" i="1" lang="en-US" sz="2500"/>
              <a:t>Phase I</a:t>
            </a:r>
            <a:endParaRPr b="0" i="1" sz="2500"/>
          </a:p>
        </p:txBody>
      </p:sp>
      <p:pic>
        <p:nvPicPr>
          <p:cNvPr id="250" name="Google Shape;2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400" y="2534988"/>
            <a:ext cx="8023200" cy="1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609600" y="2971812"/>
            <a:ext cx="1098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